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d0d03bec4d640d6" /><Relationship Type="http://schemas.openxmlformats.org/officeDocument/2006/relationships/extended-properties" Target="/docProps/app.xml" Id="R9d86d0b80f914a69" /><Relationship Type="http://schemas.openxmlformats.org/officeDocument/2006/relationships/officeDocument" Target="/ppt/presentation.xml" Id="R0613a3bb6dda421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6a6f30b6b204b36"/>
  </p:sldMasterIdLst>
  <p:notesMasterIdLst>
    <p:notesMasterId xmlns:r="http://schemas.openxmlformats.org/officeDocument/2006/relationships" r:id="Re5a5eca0f7874f84"/>
  </p:notesMasterIdLst>
  <p:sldIdLst>
    <p:sldId xmlns:r="http://schemas.openxmlformats.org/officeDocument/2006/relationships" id="256" r:id="Rcd0ed6d8e4c64797"/>
    <p:sldId xmlns:r="http://schemas.openxmlformats.org/officeDocument/2006/relationships" id="257" r:id="R8d0c5857585d4bed"/>
    <p:sldId xmlns:r="http://schemas.openxmlformats.org/officeDocument/2006/relationships" id="258" r:id="R69e074cba99f4598"/>
    <p:sldId xmlns:r="http://schemas.openxmlformats.org/officeDocument/2006/relationships" id="259" r:id="R22d848522c2640e2"/>
    <p:sldId xmlns:r="http://schemas.openxmlformats.org/officeDocument/2006/relationships" id="260" r:id="R444e981338344b91"/>
    <p:sldId xmlns:r="http://schemas.openxmlformats.org/officeDocument/2006/relationships" id="261" r:id="R9c1ed8e2890e49e3"/>
    <p:sldId xmlns:r="http://schemas.openxmlformats.org/officeDocument/2006/relationships" id="262" r:id="R9cce5c9f7749462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a6f30b6b204b36" /><Relationship Type="http://schemas.openxmlformats.org/officeDocument/2006/relationships/theme" Target="/ppt/theme/theme1.xml" Id="R02c3c55b65684aa3" /><Relationship Type="http://schemas.openxmlformats.org/officeDocument/2006/relationships/notesMaster" Target="/ppt/notesMasters/notesMaster1.xml" Id="Re5a5eca0f7874f84" /><Relationship Type="http://schemas.openxmlformats.org/officeDocument/2006/relationships/presProps" Target="/ppt/presProps.xml" Id="R4c5e23ccb5c84e88" /><Relationship Type="http://schemas.openxmlformats.org/officeDocument/2006/relationships/viewProps" Target="/ppt/viewProps.xml" Id="R7f548205e91347b8" /><Relationship Type="http://schemas.openxmlformats.org/officeDocument/2006/relationships/tableStyles" Target="/ppt/tableStyles.xml" Id="Rbbfbb1c8c8504b88" /><Relationship Type="http://schemas.openxmlformats.org/officeDocument/2006/relationships/slide" Target="/ppt/slides/slide1.xml" Id="Rcd0ed6d8e4c64797" /><Relationship Type="http://schemas.openxmlformats.org/officeDocument/2006/relationships/slide" Target="/ppt/slides/slide2.xml" Id="R8d0c5857585d4bed" /><Relationship Type="http://schemas.openxmlformats.org/officeDocument/2006/relationships/slide" Target="/ppt/slides/slide3.xml" Id="R69e074cba99f4598" /><Relationship Type="http://schemas.openxmlformats.org/officeDocument/2006/relationships/slide" Target="/ppt/slides/slide4.xml" Id="R22d848522c2640e2" /><Relationship Type="http://schemas.openxmlformats.org/officeDocument/2006/relationships/slide" Target="/ppt/slides/slide5.xml" Id="R444e981338344b91" /><Relationship Type="http://schemas.openxmlformats.org/officeDocument/2006/relationships/slide" Target="/ppt/slides/slide6.xml" Id="R9c1ed8e2890e49e3" /><Relationship Type="http://schemas.openxmlformats.org/officeDocument/2006/relationships/slide" Target="/ppt/slides/slide7.xml" Id="R9cce5c9f7749462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d2c1cdad67644fe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93c8021d4364d86" /><Relationship Type="http://schemas.openxmlformats.org/officeDocument/2006/relationships/notesMaster" Target="/ppt/notesMasters/notesMaster1.xml" Id="R55363a113e4a480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1b59db5d68d4b0b" /><Relationship Type="http://schemas.openxmlformats.org/officeDocument/2006/relationships/notesMaster" Target="/ppt/notesMasters/notesMaster1.xml" Id="R2ee80daab1ee48c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6293c3f77e94ac6" /><Relationship Type="http://schemas.openxmlformats.org/officeDocument/2006/relationships/notesMaster" Target="/ppt/notesMasters/notesMaster1.xml" Id="R543320b10fcf420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075055403fb4adc" /><Relationship Type="http://schemas.openxmlformats.org/officeDocument/2006/relationships/notesMaster" Target="/ppt/notesMasters/notesMaster1.xml" Id="R281b0b17f0b5462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4d4b7e676f24caa" /><Relationship Type="http://schemas.openxmlformats.org/officeDocument/2006/relationships/notesMaster" Target="/ppt/notesMasters/notesMaster1.xml" Id="R155d360df0d9433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e809a287db64d43" /><Relationship Type="http://schemas.openxmlformats.org/officeDocument/2006/relationships/notesMaster" Target="/ppt/notesMasters/notesMaster1.xml" Id="R9ee0bcb2f1d6438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710360bd3e94d6e" /><Relationship Type="http://schemas.openxmlformats.org/officeDocument/2006/relationships/notesMaster" Target="/ppt/notesMasters/notesMaster1.xml" Id="R2fc222ad45ef430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74b5267c36407f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89202754f7af4372" /><Relationship Type="http://schemas.openxmlformats.org/officeDocument/2006/relationships/slideLayout" Target="/ppt/slideLayouts/slideLayout2.xml" Id="R28bd7139cc3042e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8bd7139cc3042e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b9eca99747b4453" /><Relationship Type="http://schemas.openxmlformats.org/officeDocument/2006/relationships/notesSlide" Target="/ppt/notesSlides/notesSlide1.xml" Id="Rd448bbe3da57485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1c353c4563d4449" /><Relationship Type="http://schemas.openxmlformats.org/officeDocument/2006/relationships/image" Target="/ppt/media/image.png" Id="R641e3fde6ad345f8" /><Relationship Type="http://schemas.openxmlformats.org/officeDocument/2006/relationships/notesSlide" Target="/ppt/notesSlides/notesSlide2.xml" Id="Rc2e92469be7f4fc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1025a17b490489c" /><Relationship Type="http://schemas.openxmlformats.org/officeDocument/2006/relationships/notesSlide" Target="/ppt/notesSlides/notesSlide3.xml" Id="Rb76af3d60202426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555d722e3894f0c" /><Relationship Type="http://schemas.openxmlformats.org/officeDocument/2006/relationships/image" Target="/ppt/media/image2.png" Id="R0bd7a7ffec50444f" /><Relationship Type="http://schemas.openxmlformats.org/officeDocument/2006/relationships/notesSlide" Target="/ppt/notesSlides/notesSlide4.xml" Id="Rff04c90df02a4fa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30be6c8f0a14bc7" /><Relationship Type="http://schemas.openxmlformats.org/officeDocument/2006/relationships/notesSlide" Target="/ppt/notesSlides/notesSlide5.xml" Id="R35e14a38e5a1459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76d97e1b5bc4077" /><Relationship Type="http://schemas.openxmlformats.org/officeDocument/2006/relationships/image" Target="/ppt/media/image3.png" Id="Rde44b9a88ccc4396" /><Relationship Type="http://schemas.openxmlformats.org/officeDocument/2006/relationships/notesSlide" Target="/ppt/notesSlides/notesSlide6.xml" Id="R9892d72cd529445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0c2c73e9ad74170" /><Relationship Type="http://schemas.openxmlformats.org/officeDocument/2006/relationships/notesSlide" Target="/ppt/notesSlides/notesSlide7.xml" Id="Rdea3914bfe614e4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755D483-F72F-485C-BDBE-EF5C3E4A1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FAAFEB-4315-47AC-84CA-6E434FCAB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D18CEB-4ACB-4DF3-8814-FFCCC8369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FC3F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FC3F7"/>
                </a:solidFill>
                <a:latin typeface="Aptos"/>
                <a:ea typeface="Aptos"/>
                <a:cs typeface="Aptos"/>
              </a:rPr>
              <a:t>AIN-3009 MLOps Term Project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C94821-C399-4FDA-B6AD-4E6F739A6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2450"/>
            <a:ext cx="7239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rPr>
              <a:t>Predictive Maintenance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938983-4B52-43AE-A490-2D2524534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19200"/>
            <a:ext cx="7239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End-to-end ML lifecycle on Azure ML + MLflow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8CC7C0-52E5-4629-9A93-38BF9228E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95450"/>
            <a:ext cx="6191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Goal: predict machine failure and manage the model from experiment tracking to deployment and monitoring.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8D27FF-B631-4465-9B3B-21184ABAE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257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4FC3F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26D080-64A9-46EB-BD77-800531DA9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86125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Dataset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9E8FB0-39C1-4A90-A4BF-07B484F34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362325"/>
            <a:ext cx="38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0">
            <a:solidFill>
              <a:srgbClr val="4FC3F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060706-755B-4DA3-B72D-E219F5C1A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3143250"/>
            <a:ext cx="1257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314C"/>
          </a:solidFill>
          <a:ln xmlns:a="http://schemas.openxmlformats.org/drawingml/2006/main" w="9525">
            <a:solidFill>
              <a:srgbClr val="4FC3F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AA7B6E-65DA-4065-ACF8-3B5C9AB53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3286125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Training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CF27CD-1A5F-4A06-8EE2-C155994D7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362325"/>
            <a:ext cx="38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0">
            <a:solidFill>
              <a:srgbClr val="4FC3F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282185-3CB7-4E3F-A9EE-AFB18F5C3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143250"/>
            <a:ext cx="1257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4FC3F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4A72C4-8697-4A46-B20F-4D5D6616B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286125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Tuning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B929C2-4FAC-4F53-9CDE-1489CD9D3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362325"/>
            <a:ext cx="38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0">
            <a:solidFill>
              <a:srgbClr val="4FC3F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2FC4D1-181F-4F07-9B02-827820ECC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3143250"/>
            <a:ext cx="1257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314C"/>
          </a:solidFill>
          <a:ln xmlns:a="http://schemas.openxmlformats.org/drawingml/2006/main" w="9525">
            <a:solidFill>
              <a:srgbClr val="4FC3F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D493A3-BFB8-40A5-871F-636E8D6E5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3286125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Registry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E492A2-52BE-4961-AD4B-2974EE324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3362325"/>
            <a:ext cx="38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0">
            <a:solidFill>
              <a:srgbClr val="4FC3F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B71DA4-3911-4FD5-AE37-B05F802D6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143250"/>
            <a:ext cx="1257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4FC3F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D042AE-1D00-491C-8628-9C60C4937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286125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Endpoint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C8BF92-AB86-4D29-A818-EB138A739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362325"/>
            <a:ext cx="38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0">
            <a:solidFill>
              <a:srgbClr val="4FC3F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19630C-F069-4C38-AE3A-31450E811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3143250"/>
            <a:ext cx="1257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314C"/>
          </a:solidFill>
          <a:ln xmlns:a="http://schemas.openxmlformats.org/drawingml/2006/main" w="9525">
            <a:solidFill>
              <a:srgbClr val="4FC3F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8349F0-1205-452C-B76A-83489D8D8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3286125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Monitoring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D063420-98FA-4310-A394-E4F7841D6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14850"/>
            <a:ext cx="15240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9C7A9D-3EC0-4B38-AEE9-0684C9CCB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48200"/>
            <a:ext cx="1219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B74D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B74D"/>
                </a:solidFill>
                <a:latin typeface="Aptos"/>
                <a:ea typeface="Aptos"/>
                <a:cs typeface="Aptos"/>
              </a:rPr>
              <a:t>3.4%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18FCB56-BB6E-4B07-BA8B-0D474EBE0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10150"/>
            <a:ext cx="1219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failure rate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0C047DF-30B8-4E95-B77E-F8BA03AB7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514850"/>
            <a:ext cx="18097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94D786-6B17-4ACD-B444-2F7664FF1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648200"/>
            <a:ext cx="150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80CBC4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80CBC4"/>
                </a:solidFill>
                <a:latin typeface="Aptos"/>
                <a:ea typeface="Aptos"/>
                <a:cs typeface="Aptos"/>
              </a:rPr>
              <a:t>0.974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CEE1712-653B-40D7-9F16-4C2E20B8D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010150"/>
            <a:ext cx="1504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best CV ROC-AUC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E57C87A-6826-4DA9-B56E-6D6E8CBB9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514850"/>
            <a:ext cx="15240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3D4F215-FF31-438D-B03E-C9861EA5F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648200"/>
            <a:ext cx="1219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4FC3F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4FC3F7"/>
                </a:solidFill>
                <a:latin typeface="Aptos"/>
                <a:ea typeface="Aptos"/>
                <a:cs typeface="Aptos"/>
              </a:rPr>
              <a:t>v1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2F115C7-AFB9-4E8A-969A-7FB977588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010150"/>
            <a:ext cx="1219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registered model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5DCD942-B180-477D-9571-0555F4788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514850"/>
            <a:ext cx="20955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00CD9FB-1627-4023-ADFF-9FEB7783E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648200"/>
            <a:ext cx="1790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7DDC8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7DDC8A"/>
                </a:solidFill>
                <a:latin typeface="Aptos"/>
                <a:ea typeface="Aptos"/>
                <a:cs typeface="Aptos"/>
              </a:rPr>
              <a:t>Succeeded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697CB27-A369-47D0-AF9B-BFDFA131F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010150"/>
            <a:ext cx="1790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endpoint state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8D5F101-916E-4840-9CC3-2B4AC6D90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6038850"/>
            <a:ext cx="2571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A7B3C7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83F1BA1-BFC8-4FB4-B4E2-E43C3C813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6096000"/>
            <a:ext cx="2343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A7B3C7"/>
                </a:solidFill>
                <a:latin typeface="Aptos"/>
                <a:ea typeface="Aptos"/>
                <a:cs typeface="Aptos"/>
              </a:rPr>
              <a:t>Ayhan Gurbangeldiyev · 2020053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847C081-618A-4AF4-A28F-1AB4DEB7E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6457950"/>
            <a:ext cx="381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1/7</a:t>
            </a:r>
          </a:p>
        </p:txBody>
      </p:sp>
    </p:spTree>
    <p:extLst>
      <p:ext uri="{BB962C8B-B14F-4D97-AF65-F5344CB8AC3E}">
        <p14:creationId xmlns:p14="http://schemas.microsoft.com/office/powerpoint/2010/main" val="205073712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1DCAFF5-7C75-4534-83C3-F9E18C384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36AC7D-1F21-4A1B-BEEF-2188D0C4B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DAF0B7-6865-4CA3-8B1B-E114AAFFC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FC3F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FC3F7"/>
                </a:solidFill>
                <a:latin typeface="Aptos"/>
                <a:ea typeface="Aptos"/>
                <a:cs typeface="Aptos"/>
              </a:rPr>
              <a:t>AIN-3009 MLOps Term Project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AADC3E-D574-4547-8732-C5D3F1351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2450"/>
            <a:ext cx="7239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rPr>
              <a:t>Problem &amp; Dataset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E5AB5B-05B7-4956-BB59-A05FBFEFE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19200"/>
            <a:ext cx="7239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AI4I 2020 predictive-maintenance data: useful, imbalanced, and leakage-sensitive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1e3fde6ad345f8"/>
          <a:stretch xmlns:a="http://schemas.openxmlformats.org/drawingml/2006/main"/>
        </p:blipFill>
        <p:spPr>
          <a:xfrm xmlns:a="http://schemas.openxmlformats.org/drawingml/2006/main">
            <a:off x="6191250" y="1439987"/>
            <a:ext cx="4762500" cy="369227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9D119A-7C63-4978-9669-9D9F98658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4762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Why this is an MLOps problem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BC1601-073D-4B90-8CEE-8615E23E5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145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0">
            <a:solidFill>
              <a:srgbClr val="4FC3F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BE6F4C-3A84-40CA-B0DB-A5B66AB55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38375"/>
            <a:ext cx="4591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Industrial failures create downtime; predictions must be reliable and repeatable.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266EB9-5714-408F-BB0A-7DA2B0D71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575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0">
            <a:solidFill>
              <a:srgbClr val="4FC3F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022545-C7A0-4C14-B64E-A10C6CD63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81300"/>
            <a:ext cx="4591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Only 3.4% of records are failures, so accuracy alone is misleading.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4CA199-30E6-4B35-BCCD-75C284BEC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004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0">
            <a:solidFill>
              <a:srgbClr val="4FC3F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DD1C94-BACF-49AD-B291-B6F8432F3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24225"/>
            <a:ext cx="4591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Per-mode failure flags are dropped to avoid label leakage.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2F7B34-9B5F-460C-88D0-38C4E05EF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0">
            <a:solidFill>
              <a:srgbClr val="4FC3F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25C9E9-2184-4B2C-900E-6D551F358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67150"/>
            <a:ext cx="4591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Metrics focus on ROC-AUC, PR-AUC, recall, and F1.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8D4EA8-F979-4618-9026-0795444C8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0"/>
            <a:ext cx="4762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1DBF85-8EDD-47C5-B48E-7B0E3736E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24450"/>
            <a:ext cx="43434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0CBC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80CBC4"/>
                </a:solidFill>
                <a:latin typeface="Aptos"/>
                <a:ea typeface="Aptos"/>
                <a:cs typeface="Aptos"/>
              </a:rPr>
              <a:t>Course link: ML as a process starts with the right problem framing, dataset, and success criteria.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209403-A161-45B3-8641-A667B6853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6457950"/>
            <a:ext cx="381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2/7</a:t>
            </a:r>
          </a:p>
        </p:txBody>
      </p:sp>
    </p:spTree>
    <p:extLst>
      <p:ext uri="{BB962C8B-B14F-4D97-AF65-F5344CB8AC3E}">
        <p14:creationId xmlns:p14="http://schemas.microsoft.com/office/powerpoint/2010/main" val="161577555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0488B89-219D-43EB-BFC5-2154FCB30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22EE8D-AB86-4F0C-8800-BDBC7B2C4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CBFB65-102A-450D-8454-AE3BC7A1B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FC3F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FC3F7"/>
                </a:solidFill>
                <a:latin typeface="Aptos"/>
                <a:ea typeface="Aptos"/>
                <a:cs typeface="Aptos"/>
              </a:rPr>
              <a:t>AIN-3009 MLOps Term Project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97E24B-83E0-4E11-A920-610460034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2450"/>
            <a:ext cx="7239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rPr>
              <a:t>MLflow + Azure Architecture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FBCD36-A3F1-4CF2-A50A-5BEED375E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19200"/>
            <a:ext cx="7239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Local compute for cost control; Azure ML for shared lifecycle state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D71CD0-84D4-4900-846C-90AF34B27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33625"/>
            <a:ext cx="1619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11430">
            <a:solidFill>
              <a:srgbClr val="4FC3F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81C611-651E-405D-AD13-FA165F643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86025"/>
            <a:ext cx="13525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Local machine</a:t>
            </a:r>
          </a:p>
          <a:p xmlns:a="http://schemas.openxmlformats.org/drawingml/2006/main">
            <a:pPr algn="ctr">
              <a:defRPr sz="127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train + tune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FCEBB9-C736-4242-875E-263F1A51F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743200"/>
            <a:ext cx="10001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0">
            <a:solidFill>
              <a:srgbClr val="4FC3F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3999F9-E3DB-4821-8B98-F0346A842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2676525"/>
            <a:ext cx="1714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0">
            <a:solidFill>
              <a:srgbClr val="4FC3F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2CE0C3-1E97-4D8F-A69A-3C934AFC0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14550"/>
            <a:ext cx="18097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314C"/>
          </a:solidFill>
          <a:ln xmlns:a="http://schemas.openxmlformats.org/drawingml/2006/main" w="11430">
            <a:solidFill>
              <a:srgbClr val="4FC3F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05E6B6-383D-4E62-BAF8-2B493EFEA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266950"/>
            <a:ext cx="15430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Azure ML</a:t>
            </a:r>
          </a:p>
          <a:p xmlns:a="http://schemas.openxmlformats.org/drawingml/2006/main">
            <a:pPr algn="ctr">
              <a:defRPr sz="127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Tracking Server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737E5A-813F-4AE6-AF26-419087380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743200"/>
            <a:ext cx="90487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0">
            <a:solidFill>
              <a:srgbClr val="4FC3F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B2BE4E-39F2-4FF7-BDA0-46731D299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676525"/>
            <a:ext cx="1714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0">
            <a:solidFill>
              <a:srgbClr val="4FC3F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C301CA-4D8E-4970-BF63-AD8ABD9C2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114550"/>
            <a:ext cx="20002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314C"/>
          </a:solidFill>
          <a:ln xmlns:a="http://schemas.openxmlformats.org/drawingml/2006/main" w="11430">
            <a:solidFill>
              <a:srgbClr val="4FC3F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2DF9EA-555A-4924-9356-832E86518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266950"/>
            <a:ext cx="17335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Model Registry</a:t>
            </a:r>
          </a:p>
          <a:p xmlns:a="http://schemas.openxmlformats.org/drawingml/2006/main">
            <a:pPr algn="ctr">
              <a:defRPr sz="127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Staging → Production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7F9B83-D3F6-4AA8-8617-E0402696F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743200"/>
            <a:ext cx="876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0">
            <a:solidFill>
              <a:srgbClr val="4FC3F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492724-039F-47BD-8F54-4FCA63BCF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676525"/>
            <a:ext cx="1714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0">
            <a:solidFill>
              <a:srgbClr val="4FC3F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D06A3B-F5D6-41B7-A655-2EB814FD4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333625"/>
            <a:ext cx="1619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11430">
            <a:solidFill>
              <a:srgbClr val="4FC3F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E5F5ACD-EE1E-4F6A-84F3-EB99A72C7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486025"/>
            <a:ext cx="13525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Managed Online</a:t>
            </a:r>
          </a:p>
          <a:p xmlns:a="http://schemas.openxmlformats.org/drawingml/2006/main">
            <a:pPr algn="ctr">
              <a:defRPr sz="127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Endpoint /score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1E5F12-FE8A-40E3-83EA-07117EC7B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076700"/>
            <a:ext cx="2000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80CB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D4441B-0B5C-411C-9C86-827E95575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29100"/>
            <a:ext cx="1619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80CBC4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80CBC4"/>
                </a:solidFill>
                <a:latin typeface="Aptos"/>
                <a:ea typeface="Aptos"/>
                <a:cs typeface="Aptos"/>
              </a:rPr>
              <a:t>Monitoring logs metric drift back to MLflow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4638EA-8926-49FE-9BAE-567CE200E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429000"/>
            <a:ext cx="38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0CBC4"/>
          </a:solidFill>
          <a:ln xmlns:a="http://schemas.openxmlformats.org/drawingml/2006/main" w="0">
            <a:solidFill>
              <a:srgbClr val="80CB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642BD6-510F-48BA-AB15-E8B0993A6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286375"/>
            <a:ext cx="9810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Azure credit was used where the course expects cloud MLOps: tracking, registry, and deployment.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D42496-C847-4793-8893-5E3EC2BA0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6457950"/>
            <a:ext cx="381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3/7</a:t>
            </a:r>
          </a:p>
        </p:txBody>
      </p:sp>
    </p:spTree>
    <p:extLst>
      <p:ext uri="{BB962C8B-B14F-4D97-AF65-F5344CB8AC3E}">
        <p14:creationId xmlns:p14="http://schemas.microsoft.com/office/powerpoint/2010/main" val="39852469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000656B-8537-4B42-AD8B-ECC0E6A8D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3AF91C-404D-4E0B-8BF8-6A977D837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CF0A06-B12F-4C43-8CE2-B7BD61B2C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FC3F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FC3F7"/>
                </a:solidFill>
                <a:latin typeface="Aptos"/>
                <a:ea typeface="Aptos"/>
                <a:cs typeface="Aptos"/>
              </a:rPr>
              <a:t>AIN-3009 MLOps Term Project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A22197-7917-44C2-8BDF-B871A7175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2450"/>
            <a:ext cx="7239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rPr>
              <a:t>Experiments &amp; Tuning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40B82E-3547-4885-B0E4-F1489DF22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19200"/>
            <a:ext cx="7239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Every baseline and Optuna trial is traceable in MLflow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d7a7ffec50444f"/>
          <a:stretch xmlns:a="http://schemas.openxmlformats.org/drawingml/2006/main"/>
        </p:blipFill>
        <p:spPr>
          <a:xfrm xmlns:a="http://schemas.openxmlformats.org/drawingml/2006/main">
            <a:off x="571500" y="1447692"/>
            <a:ext cx="5715000" cy="367686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B23A2C-38B8-4ACD-A8E4-DAA4C070D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676400"/>
            <a:ext cx="15240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8C3353-1E95-4344-8615-84822D22B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1809750"/>
            <a:ext cx="1219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4FC3F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4FC3F7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2D948F-4EE6-4017-8FC7-427B09088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171700"/>
            <a:ext cx="1219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Optuna trials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CCA560-5A14-4F01-98C1-A059E4436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676400"/>
            <a:ext cx="2000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F0A16C-C69E-406D-9E4A-942095634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809750"/>
            <a:ext cx="1695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80CBC4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80CBC4"/>
                </a:solidFill>
                <a:latin typeface="Aptos"/>
                <a:ea typeface="Aptos"/>
                <a:cs typeface="Aptos"/>
              </a:rPr>
              <a:t>0.974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3768FC-0BC9-4217-A15E-541485683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171700"/>
            <a:ext cx="1695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Best CV ROC-AUC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74A666-D9AC-4A58-AC5C-1AC967FAC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819400"/>
            <a:ext cx="37909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453F3E-CE0E-4F3A-830F-067D8C1EB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952750"/>
            <a:ext cx="3486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B74D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B74D"/>
                </a:solidFill>
                <a:latin typeface="Aptos"/>
                <a:ea typeface="Aptos"/>
                <a:cs typeface="Aptos"/>
              </a:rPr>
              <a:t>0.44 → 0.77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E2E0C2-F4F2-43EF-9375-B829D174C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314700"/>
            <a:ext cx="34861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Recall lift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0014B6-56A3-4B9C-B230-8488E3CA2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095750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Logged per run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792F55-874D-444C-AD24-BF2AC1628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5148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0">
            <a:solidFill>
              <a:srgbClr val="4FC3F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9B3B0B-96EC-4DC8-B2EF-2FD91F427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438650"/>
            <a:ext cx="3257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parameters and hyperparameters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7FA596-3FE0-40F0-8CCC-6D41CCC45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9720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0">
            <a:solidFill>
              <a:srgbClr val="4FC3F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D826D4-AD84-4875-8026-12D3023A9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895850"/>
            <a:ext cx="3543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ROC-AUC, PR-AUC, precision, recall, F1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05B85B9-F44E-40E5-9257-DE536621F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4292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0">
            <a:solidFill>
              <a:srgbClr val="4FC3F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B9374E1-3ADA-463E-8599-32B319F7A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353050"/>
            <a:ext cx="37338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model artifact, signature, confusion matrix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D0B8AD-B5B9-469E-BEFC-07EB7E781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6457950"/>
            <a:ext cx="381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4/7</a:t>
            </a:r>
          </a:p>
        </p:txBody>
      </p:sp>
    </p:spTree>
    <p:extLst>
      <p:ext uri="{BB962C8B-B14F-4D97-AF65-F5344CB8AC3E}">
        <p14:creationId xmlns:p14="http://schemas.microsoft.com/office/powerpoint/2010/main" val="20259634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4718519-1E82-40D8-92CC-5E4DEE985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73DFEA-06B3-4C69-AD52-13DE000FF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D1BF94-3610-4498-B059-EC548DDA2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FC3F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FC3F7"/>
                </a:solidFill>
                <a:latin typeface="Aptos"/>
                <a:ea typeface="Aptos"/>
                <a:cs typeface="Aptos"/>
              </a:rPr>
              <a:t>AIN-3009 MLOps Term Project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367457-6DCB-4B67-B9A5-398C7F280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2450"/>
            <a:ext cx="7239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rPr>
              <a:t>Registry &amp; Deployment Demo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64E8C1-DAEE-48CD-9F73-C1A816257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19200"/>
            <a:ext cx="7239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Best model registered, promoted, and deployed through Azure ML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D8ED87-A9F1-4EA7-9057-F8F1B6D70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04950"/>
            <a:ext cx="3524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9C196E-7C42-4780-8140-7DEA220EC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38300"/>
            <a:ext cx="3219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4FC3F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4FC3F7"/>
                </a:solidFill>
                <a:latin typeface="Aptos"/>
                <a:ea typeface="Aptos"/>
                <a:cs typeface="Aptos"/>
              </a:rPr>
              <a:t>PredictiveMaintenanceModel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2D3DE9-D9C7-4927-B716-6B6F45623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00250"/>
            <a:ext cx="3219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Registered model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F0DDEC-505E-4FC9-8F71-A433F206C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504950"/>
            <a:ext cx="1238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D586B4-81F7-49CB-87A6-D8F0246F7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638300"/>
            <a:ext cx="933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80CBC4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80CBC4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53E7F4-F79D-4156-A05F-8F0C8CA7F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000250"/>
            <a:ext cx="933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Version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4F595B-430B-4D14-932E-DBBD32A11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504950"/>
            <a:ext cx="2762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7F7BA5-6DC6-49CB-85AD-0D22F470B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638300"/>
            <a:ext cx="2457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B74D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B74D"/>
                </a:solidFill>
                <a:latin typeface="Aptos"/>
                <a:ea typeface="Aptos"/>
                <a:cs typeface="Aptos"/>
              </a:rPr>
              <a:t>Staging → Production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B35AC4-A8D7-4942-AC33-37CCAFA64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000250"/>
            <a:ext cx="2457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Lifecycle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620BB9-6E36-4E8F-8A89-D58445D05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504950"/>
            <a:ext cx="2095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90BF32-3114-4C4B-92C3-AF7044F39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638300"/>
            <a:ext cx="1790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7DDC8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7DDC8A"/>
                </a:solidFill>
                <a:latin typeface="Aptos"/>
                <a:ea typeface="Aptos"/>
                <a:cs typeface="Aptos"/>
              </a:rPr>
              <a:t>Succeeded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C9D0D9-F40A-4A4C-A636-E6BFBC1E0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000250"/>
            <a:ext cx="1790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Endpoint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7A358B-CAF4-434A-8C0B-CD5955145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43250"/>
            <a:ext cx="233362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11430">
            <a:solidFill>
              <a:srgbClr val="24435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AAC3D3-E981-4C2B-B091-63F986DE0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00450"/>
            <a:ext cx="2000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7B3C7"/>
                </a:solidFill>
                <a:latin typeface="Aptos"/>
                <a:ea typeface="Aptos"/>
                <a:cs typeface="Aptos"/>
              </a:rPr>
              <a:t>Azure ML experiments / runs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639D62-7294-44F4-87DD-510DED819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3143250"/>
            <a:ext cx="233362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11430">
            <a:solidFill>
              <a:srgbClr val="24435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F1025E1-4E41-4735-953A-9C875391A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600450"/>
            <a:ext cx="2000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7B3C7"/>
                </a:solidFill>
                <a:latin typeface="Aptos"/>
                <a:ea typeface="Aptos"/>
                <a:cs typeface="Aptos"/>
              </a:rPr>
              <a:t>Best run metrics + artifacts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F21FB1C-9BAF-476B-8355-ADC92B79E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143250"/>
            <a:ext cx="233362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11430">
            <a:solidFill>
              <a:srgbClr val="24435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AF8BAAF-4DE9-459A-B14F-371786B74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00450"/>
            <a:ext cx="2000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7B3C7"/>
                </a:solidFill>
                <a:latin typeface="Aptos"/>
                <a:ea typeface="Aptos"/>
                <a:cs typeface="Aptos"/>
              </a:rPr>
              <a:t>Model registry version 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0143381-22B8-477A-B71E-95916C088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143250"/>
            <a:ext cx="233362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11430">
            <a:solidFill>
              <a:srgbClr val="24435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50AA737-D0C6-451D-AC73-E74EDE800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3600450"/>
            <a:ext cx="2000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7B3C7"/>
                </a:solidFill>
                <a:latin typeface="Aptos"/>
                <a:ea typeface="Aptos"/>
                <a:cs typeface="Aptos"/>
              </a:rPr>
              <a:t>Endpoint status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1580B52-5D00-4D61-ABE5-675F89FE2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53000"/>
            <a:ext cx="10420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EFC8C3D-96EE-4F79-BB43-B06556AA8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62550"/>
            <a:ext cx="990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Evidence captured: workspace mlw-predmaint · resource group rg-mlops-predmaint · endpoint predmaint-endpoint. Do not show scoring keys.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B6E8314-BEF2-48EB-A930-1EB5EE1A9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6457950"/>
            <a:ext cx="381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5/7</a:t>
            </a:r>
          </a:p>
        </p:txBody>
      </p:sp>
    </p:spTree>
    <p:extLst>
      <p:ext uri="{BB962C8B-B14F-4D97-AF65-F5344CB8AC3E}">
        <p14:creationId xmlns:p14="http://schemas.microsoft.com/office/powerpoint/2010/main" val="138130728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1C61D51-92DD-4642-BCD7-69FFF8187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AE10C0-EEF5-4DA1-80E4-7C5937CDF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6A0559-33A5-4FDE-AF44-0DAF36423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FC3F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FC3F7"/>
                </a:solidFill>
                <a:latin typeface="Aptos"/>
                <a:ea typeface="Aptos"/>
                <a:cs typeface="Aptos"/>
              </a:rPr>
              <a:t>AIN-3009 MLOps Term Project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35D47E-803F-49F5-ACC4-3E3C4CCF7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2450"/>
            <a:ext cx="7239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rPr>
              <a:t>Monitoring &amp; Drift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3B508A-4E9C-4FCC-B62F-DAC78053C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19200"/>
            <a:ext cx="7239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Simulated incoming batches show when retraining should be triggered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44b9a88ccc4396"/>
          <a:stretch xmlns:a="http://schemas.openxmlformats.org/drawingml/2006/main"/>
        </p:blipFill>
        <p:spPr>
          <a:xfrm xmlns:a="http://schemas.openxmlformats.org/drawingml/2006/main">
            <a:off x="666750" y="1384638"/>
            <a:ext cx="6858000" cy="4279223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90F487-1A24-44A2-895C-70534C318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619250"/>
            <a:ext cx="2095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3B4895-3BBF-4ACB-891B-69A58B81A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752600"/>
            <a:ext cx="1790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80CBC4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80CBC4"/>
                </a:solidFill>
                <a:latin typeface="Aptos"/>
                <a:ea typeface="Aptos"/>
                <a:cs typeface="Aptos"/>
              </a:rPr>
              <a:t>0.914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D16338-EAE4-4C37-9CB8-6BD03B59E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114550"/>
            <a:ext cx="1790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Batch 0 ROC-AUC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952F63-A86A-43BF-9644-C3FA0A1E2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781300"/>
            <a:ext cx="2095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34BC8E-8EE2-4E71-86BD-0CA07FA5A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914650"/>
            <a:ext cx="1790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B74D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B74D"/>
                </a:solidFill>
                <a:latin typeface="Aptos"/>
                <a:ea typeface="Aptos"/>
                <a:cs typeface="Aptos"/>
              </a:rPr>
              <a:t>0.766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466214-2DE4-4DDE-88E5-B72DF4EB3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276600"/>
            <a:ext cx="1790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Batch 5 ROC-AUC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7D2FBF-F070-469F-B4F1-B60B8C3A0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943350"/>
            <a:ext cx="2476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BF667C-1895-46A5-A0DA-646C129B8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076700"/>
            <a:ext cx="2171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6B6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6B6B"/>
                </a:solidFill>
                <a:latin typeface="Aptos"/>
                <a:ea typeface="Aptos"/>
                <a:cs typeface="Aptos"/>
              </a:rPr>
              <a:t>4% → 37%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E9354C-F8FA-4188-9634-BE3AE4179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438650"/>
            <a:ext cx="2171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Predicted failure rate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86010E-7FC2-4C7D-8DD1-8473E072F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143500"/>
            <a:ext cx="314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Monitoring closes the lifecycle: drift is logged back to MLflow with step-indexed metrics.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7F52C1-AE87-49B6-892B-C1C8E55E6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6457950"/>
            <a:ext cx="381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6/7</a:t>
            </a:r>
          </a:p>
        </p:txBody>
      </p:sp>
    </p:spTree>
    <p:extLst>
      <p:ext uri="{BB962C8B-B14F-4D97-AF65-F5344CB8AC3E}">
        <p14:creationId xmlns:p14="http://schemas.microsoft.com/office/powerpoint/2010/main" val="110346835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7EE93C0-0B3A-450F-8DF3-4942C7852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11D9DE-C2DB-48FE-A309-38E959020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2A0C5A-D1BB-4EEC-B763-5360B2E5B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FC3F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FC3F7"/>
                </a:solidFill>
                <a:latin typeface="Aptos"/>
                <a:ea typeface="Aptos"/>
                <a:cs typeface="Aptos"/>
              </a:rPr>
              <a:t>AIN-3009 MLOps Term Project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48E322-20A9-4E15-9AB7-7E8A5E661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2450"/>
            <a:ext cx="7239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rPr>
              <a:t>Conclusion: Full ML Lifecycle Delivered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1BF7A0-838E-4A13-B328-923B1FF6D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19200"/>
            <a:ext cx="7239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The project satisfies the course objectives and deliverables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8AA0D8-4515-41AC-8B31-703F1EB9D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24025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DDC8A"/>
          </a:solidFill>
          <a:ln xmlns:a="http://schemas.openxmlformats.org/drawingml/2006/main" w="0">
            <a:solidFill>
              <a:srgbClr val="7DDC8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1C75DE-CD15-486F-9BFC-1634A7F0F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1704975"/>
            <a:ext cx="152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A324C2-011F-478B-B9AB-1B9D9CBB4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695450"/>
            <a:ext cx="4286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Experiment tracking: params, metrics, artifacts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C4F93F-B049-4F78-A65F-C1C90D1FD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95525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DDC8A"/>
          </a:solidFill>
          <a:ln xmlns:a="http://schemas.openxmlformats.org/drawingml/2006/main" w="0">
            <a:solidFill>
              <a:srgbClr val="7DDC8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9340E2-6874-4826-B736-F484C1154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276475"/>
            <a:ext cx="152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5E18F3-7A1B-4A62-9E35-85707B571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266950"/>
            <a:ext cx="4286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Model training + Optuna tuning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033048-2B69-40A0-9488-1C78B14BD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67025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DDC8A"/>
          </a:solidFill>
          <a:ln xmlns:a="http://schemas.openxmlformats.org/drawingml/2006/main" w="0">
            <a:solidFill>
              <a:srgbClr val="7DDC8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B59BA1-B170-4FE6-873E-8EBA6C29D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847975"/>
            <a:ext cx="152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9AE81B-BFED-4BE1-B481-28A85C092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838450"/>
            <a:ext cx="4286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MLflow model packaging + Azure endpoint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FD0D9B-2609-4456-B831-A5A0668FA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38525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DDC8A"/>
          </a:solidFill>
          <a:ln xmlns:a="http://schemas.openxmlformats.org/drawingml/2006/main" w="0">
            <a:solidFill>
              <a:srgbClr val="7DDC8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720245-3A41-4F28-A962-FB57DF0F0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3419475"/>
            <a:ext cx="152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AE8A68-4F03-400E-9E75-66460E97E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409950"/>
            <a:ext cx="4286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Monitoring: drift simulation logged to MLflow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4E03EC-A1A6-4217-874C-D890A2FF1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10025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DDC8A"/>
          </a:solidFill>
          <a:ln xmlns:a="http://schemas.openxmlformats.org/drawingml/2006/main" w="0">
            <a:solidFill>
              <a:srgbClr val="7DDC8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1EC1A0-6454-4BE6-97B8-A746F4B19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3990975"/>
            <a:ext cx="152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8B2F12-EE49-4D28-ACFE-EB1E3088D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981450"/>
            <a:ext cx="4286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Model registry: versioned Staging → Production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DE7CA5-FD8A-4218-985F-17E19B42F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4191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11430">
            <a:solidFill>
              <a:srgbClr val="4FC3F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B8B57E-3862-4285-8C50-C9371D279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943100"/>
            <a:ext cx="3429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4FC3F7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4FC3F7"/>
                </a:solidFill>
                <a:latin typeface="Aptos"/>
                <a:ea typeface="Aptos"/>
                <a:cs typeface="Aptos"/>
              </a:rPr>
              <a:t>Deliverables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7D81736-9A1F-4AB1-97AA-DA4015561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438400"/>
            <a:ext cx="342900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GitHub repo: public</a:t>
            </a:r>
          </a:p>
          <a:p xmlns:a="http://schemas.openxmlformats.org/drawingml/2006/main">
            <a:pPr algn="l">
              <a:defRPr sz="127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Project report: complete</a:t>
            </a:r>
          </a:p>
          <a:p xmlns:a="http://schemas.openxmlformats.org/drawingml/2006/main">
            <a:pPr algn="l">
              <a:defRPr sz="127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Presentation: PPTX + PDF backup</a:t>
            </a:r>
          </a:p>
          <a:p xmlns:a="http://schemas.openxmlformats.org/drawingml/2006/main">
            <a:pPr algn="l">
              <a:defRPr sz="127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Submission ZIP: PRJ-AyhanGurbangeldiyev-2020053.zip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0CFB67D-DA04-47A4-BA50-452BD664A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38750"/>
            <a:ext cx="9334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80CBC4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80CBC4"/>
                </a:solidFill>
                <a:latin typeface="Aptos"/>
                <a:ea typeface="Aptos"/>
                <a:cs typeface="Aptos"/>
              </a:rPr>
              <a:t>Main takeaway: this is not only a model score; it is a managed lifecycle.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DA5D61A-ADD9-4C03-A633-8A9C6C845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6457950"/>
            <a:ext cx="381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7/7</a:t>
            </a:r>
          </a:p>
        </p:txBody>
      </p:sp>
    </p:spTree>
    <p:extLst>
      <p:ext uri="{BB962C8B-B14F-4D97-AF65-F5344CB8AC3E}">
        <p14:creationId xmlns:p14="http://schemas.microsoft.com/office/powerpoint/2010/main" val="55956848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2026-05-31T10:49:41.8470000Z</dcterms:created>
  <dcterms:modified xsi:type="dcterms:W3CDTF">2026-05-31T10:49:41.8470000Z</dcterms:modified>
</coreProperties>
</file>