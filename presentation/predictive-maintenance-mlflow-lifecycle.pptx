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3abf7e7a34b6c" /><Relationship Type="http://schemas.openxmlformats.org/officeDocument/2006/relationships/extended-properties" Target="/docProps/app.xml" Id="Re2c65ba0feb64c99" /><Relationship Type="http://schemas.openxmlformats.org/officeDocument/2006/relationships/officeDocument" Target="/ppt/presentation.xml" Id="R938e0b69105b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a546b862a4545"/>
  </p:sldMasterIdLst>
  <p:notesMasterIdLst>
    <p:notesMasterId xmlns:r="http://schemas.openxmlformats.org/officeDocument/2006/relationships" r:id="R1afdb0c5ff4a43c0"/>
  </p:notesMasterIdLst>
  <p:sldIdLst>
    <p:sldId xmlns:r="http://schemas.openxmlformats.org/officeDocument/2006/relationships" id="256" r:id="R64217ee73ab149fc"/>
    <p:sldId xmlns:r="http://schemas.openxmlformats.org/officeDocument/2006/relationships" id="257" r:id="R2370cf9bff59436e"/>
    <p:sldId xmlns:r="http://schemas.openxmlformats.org/officeDocument/2006/relationships" id="258" r:id="R2ee1de1053c84aa9"/>
    <p:sldId xmlns:r="http://schemas.openxmlformats.org/officeDocument/2006/relationships" id="259" r:id="R45990d2379cf4c29"/>
    <p:sldId xmlns:r="http://schemas.openxmlformats.org/officeDocument/2006/relationships" id="260" r:id="Rbbf2f0187eda49db"/>
    <p:sldId xmlns:r="http://schemas.openxmlformats.org/officeDocument/2006/relationships" id="261" r:id="Ra1bfd270ea1c4192"/>
    <p:sldId xmlns:r="http://schemas.openxmlformats.org/officeDocument/2006/relationships" id="262" r:id="Rc01e951ed0084482"/>
    <p:sldId xmlns:r="http://schemas.openxmlformats.org/officeDocument/2006/relationships" id="263" r:id="R5266aff016bf45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a546b862a4545" /><Relationship Type="http://schemas.openxmlformats.org/officeDocument/2006/relationships/theme" Target="/ppt/theme/theme1.xml" Id="Rcd3afcc04fdc4b9e" /><Relationship Type="http://schemas.openxmlformats.org/officeDocument/2006/relationships/notesMaster" Target="/ppt/notesMasters/notesMaster1.xml" Id="R1afdb0c5ff4a43c0" /><Relationship Type="http://schemas.openxmlformats.org/officeDocument/2006/relationships/presProps" Target="/ppt/presProps.xml" Id="R73c90feccf0b4bc1" /><Relationship Type="http://schemas.openxmlformats.org/officeDocument/2006/relationships/viewProps" Target="/ppt/viewProps.xml" Id="Re22fa29e9433452f" /><Relationship Type="http://schemas.openxmlformats.org/officeDocument/2006/relationships/tableStyles" Target="/ppt/tableStyles.xml" Id="R8c2125686f314a35" /><Relationship Type="http://schemas.openxmlformats.org/officeDocument/2006/relationships/slide" Target="/ppt/slides/slide1.xml" Id="R64217ee73ab149fc" /><Relationship Type="http://schemas.openxmlformats.org/officeDocument/2006/relationships/slide" Target="/ppt/slides/slide2.xml" Id="R2370cf9bff59436e" /><Relationship Type="http://schemas.openxmlformats.org/officeDocument/2006/relationships/slide" Target="/ppt/slides/slide3.xml" Id="R2ee1de1053c84aa9" /><Relationship Type="http://schemas.openxmlformats.org/officeDocument/2006/relationships/slide" Target="/ppt/slides/slide4.xml" Id="R45990d2379cf4c29" /><Relationship Type="http://schemas.openxmlformats.org/officeDocument/2006/relationships/slide" Target="/ppt/slides/slide5.xml" Id="Rbbf2f0187eda49db" /><Relationship Type="http://schemas.openxmlformats.org/officeDocument/2006/relationships/slide" Target="/ppt/slides/slide6.xml" Id="Ra1bfd270ea1c4192" /><Relationship Type="http://schemas.openxmlformats.org/officeDocument/2006/relationships/slide" Target="/ppt/slides/slide7.xml" Id="Rc01e951ed0084482" /><Relationship Type="http://schemas.openxmlformats.org/officeDocument/2006/relationships/slide" Target="/ppt/slides/slide8.xml" Id="R5266aff016bf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e3693284e5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6b974d508431e" /><Relationship Type="http://schemas.openxmlformats.org/officeDocument/2006/relationships/notesMaster" Target="/ppt/notesMasters/notesMaster1.xml" Id="R85db56b6bd64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c1bb05561480d" /><Relationship Type="http://schemas.openxmlformats.org/officeDocument/2006/relationships/notesMaster" Target="/ppt/notesMasters/notesMaster1.xml" Id="Rdf5c7aaa5edb40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421074d8554956" /><Relationship Type="http://schemas.openxmlformats.org/officeDocument/2006/relationships/notesMaster" Target="/ppt/notesMasters/notesMaster1.xml" Id="R275d209bd083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b0c4770dc4eb7" /><Relationship Type="http://schemas.openxmlformats.org/officeDocument/2006/relationships/notesMaster" Target="/ppt/notesMasters/notesMaster1.xml" Id="Rb5799ad72765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d6c4d7957a4f02" /><Relationship Type="http://schemas.openxmlformats.org/officeDocument/2006/relationships/notesMaster" Target="/ppt/notesMasters/notesMaster1.xml" Id="R2f71390464474d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611ea6a324827" /><Relationship Type="http://schemas.openxmlformats.org/officeDocument/2006/relationships/notesMaster" Target="/ppt/notesMasters/notesMaster1.xml" Id="Rc822a01fe31248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a6cfe95b6408f" /><Relationship Type="http://schemas.openxmlformats.org/officeDocument/2006/relationships/notesMaster" Target="/ppt/notesMasters/notesMaster1.xml" Id="Ra7704fd576df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d1468ed0b5424f" /><Relationship Type="http://schemas.openxmlformats.org/officeDocument/2006/relationships/notesMaster" Target="/ppt/notesMasters/notesMaster1.xml" Id="R7dc59f00aa2f43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9c9d7a5304f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481e7db27e4059" /><Relationship Type="http://schemas.openxmlformats.org/officeDocument/2006/relationships/slideLayout" Target="/ppt/slideLayouts/slideLayout2.xml" Id="R4cfd3627d22d48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d3627d22d48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19570767f457f" /><Relationship Type="http://schemas.openxmlformats.org/officeDocument/2006/relationships/notesSlide" Target="/ppt/notesSlides/notesSlide1.xml" Id="R482bc20972f8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569337a1b4782" /><Relationship Type="http://schemas.openxmlformats.org/officeDocument/2006/relationships/notesSlide" Target="/ppt/notesSlides/notesSlide2.xml" Id="Rcf1d6dbc4c4c4b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6a9c240234342" /><Relationship Type="http://schemas.openxmlformats.org/officeDocument/2006/relationships/image" Target="/ppt/media/image.png" Id="R1618292b263c4dbd" /><Relationship Type="http://schemas.openxmlformats.org/officeDocument/2006/relationships/image" Target="/ppt/media/image2.png" Id="R44e3f54a8311475a" /><Relationship Type="http://schemas.openxmlformats.org/officeDocument/2006/relationships/notesSlide" Target="/ppt/notesSlides/notesSlide3.xml" Id="Rb67aa9b102d24f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6a608c6af64935" /><Relationship Type="http://schemas.openxmlformats.org/officeDocument/2006/relationships/image" Target="/ppt/media/image3.png" Id="R936d527aff2847d7" /><Relationship Type="http://schemas.openxmlformats.org/officeDocument/2006/relationships/image" Target="/ppt/media/image4.png" Id="R3d3665ae412042fe" /><Relationship Type="http://schemas.openxmlformats.org/officeDocument/2006/relationships/notesSlide" Target="/ppt/notesSlides/notesSlide4.xml" Id="Rd86ea8fb55b4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e19e9ca994798" /><Relationship Type="http://schemas.openxmlformats.org/officeDocument/2006/relationships/notesSlide" Target="/ppt/notesSlides/notesSlide5.xml" Id="R42d600eeb31b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b49c622b54f28" /><Relationship Type="http://schemas.openxmlformats.org/officeDocument/2006/relationships/image" Target="/ppt/media/image5.png" Id="R8e3ddb05a91e4f07" /><Relationship Type="http://schemas.openxmlformats.org/officeDocument/2006/relationships/image" Target="/ppt/media/image6.png" Id="Rda3d69139af540c2" /><Relationship Type="http://schemas.openxmlformats.org/officeDocument/2006/relationships/notesSlide" Target="/ppt/notesSlides/notesSlide6.xml" Id="Rd111fdbfd36a42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995dc038a4e73" /><Relationship Type="http://schemas.openxmlformats.org/officeDocument/2006/relationships/image" Target="/ppt/media/image7.png" Id="Rfbd1272d50284f9e" /><Relationship Type="http://schemas.openxmlformats.org/officeDocument/2006/relationships/image" Target="/ppt/media/image8.png" Id="R8bc922080e8c483a" /><Relationship Type="http://schemas.openxmlformats.org/officeDocument/2006/relationships/notesSlide" Target="/ppt/notesSlides/notesSlide7.xml" Id="R57c08fc581bd49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4980f81874881" /><Relationship Type="http://schemas.openxmlformats.org/officeDocument/2006/relationships/image" Target="/ppt/media/image9.png" Id="R1213cf32a0ed434d" /><Relationship Type="http://schemas.openxmlformats.org/officeDocument/2006/relationships/notesSlide" Target="/ppt/notesSlides/notesSlide8.xml" Id="Re75b50ac7bc748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7DC98-BB7C-4693-87E5-B523691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845AA-4217-4896-8CE9-31ABAED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E8D75-A744-4058-AF69-0588667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4CA1B-396C-4873-ACA8-7DEDAFC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Predictive Maintenance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EB99-866A-4B89-80DE-FD70DD9D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End-to-End ML Lifecycle on Azure ML + MLflow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0724-7D5B-4C54-AD90-02252A8F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complete MLOps lifecycle project: from dataset and experiments to registry, deployment, and monitoring.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34313-5651-4FAC-9688-D124FA24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F325A-DE70-4EF2-B6F6-9F13312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C1E76-9931-46AD-B9CC-5550AF52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289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2D6B9-BD94-4216-8D2F-304E3F47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CB8AC-42C3-43A4-8FE4-B3B49E8A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B6194-B21C-439E-88AD-FCEE8968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289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67C01-90F1-4082-945C-D213274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B9F54-C049-468B-93F6-91D3B48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D666B-CF43-404A-92B5-2ED11BD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289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80800-D668-40FD-BFDA-9FC22C12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C4DA2-A099-47BF-8FDC-CDC5619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55017-EE61-4D6C-8450-29E461F1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289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C8709-07D1-4C00-AE19-E2D28C6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189F7-46B4-4CC9-A603-627DC5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2572B-94CD-4183-89D2-F67C5361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289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674FC-0AE4-45B1-B13C-F0984408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990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783C2-12FF-49F7-A75E-B327E6A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E4857-98FA-4AD4-98B0-3806B031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B5D7F-FE06-4111-B0DE-14CAC30D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7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74D"/>
                </a:solidFill>
                <a:latin typeface="Aptos"/>
                <a:ea typeface="Aptos"/>
                <a:cs typeface="Aptos"/>
              </a:rPr>
              <a:t>3.4%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2C42A-140D-42DC-89CC-3EFB4D2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3AC8F-2AFB-4FF0-8DAA-297BA7A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C5483-DD86-4D80-B5C9-641D5569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0.974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CF258-5CD2-4D2A-9105-1599B629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best CV ROC-AUC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BA5D4-DC4B-4F7B-B7A3-ADF707A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D0E0FC-A356-4CD1-ADFA-DE6CC72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BB97EB-A2A8-435F-8D56-932D449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387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340B4-1137-4CEE-AAEE-1B397E9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3F5B3-27CA-4BB1-BDD4-3CA899C8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DDC8A"/>
                </a:solidFill>
                <a:latin typeface="Aptos"/>
                <a:ea typeface="Aptos"/>
                <a:cs typeface="Aptos"/>
              </a:rPr>
              <a:t>Succeeded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9FED6-B8C1-4975-A3A4-0602AAB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endpoint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6CC789-C4A9-401C-A3E6-49C8318F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192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89773-3FE6-4724-BDF5-1DBA83D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09700"/>
            <a:ext cx="2457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Course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AIN-3009 Delivering AI Applications with MLOps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Instructor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Dr. Gökşin Bakır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</a:t>
            </a:r>
          </a:p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Ayhan Gurbangeldiyev · 2020053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6F3FB-7CAC-4C40-AC6E-FC18309E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19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A7B3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D8BCC-D760-4188-81F0-DE1ACBF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7695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3C7"/>
                </a:solidFill>
                <a:latin typeface="Aptos"/>
                <a:ea typeface="Aptos"/>
                <a:cs typeface="Aptos"/>
              </a:rPr>
              <a:t>5-minute technical project presentation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29DA2-4369-43C4-A7B8-64762A6F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7222640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2DBAF-B9C2-4798-ADF9-B84CECE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61183-E402-42FD-94EF-8EC71ED3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929E7-5EB1-4E8D-AC0C-893F38C3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95231-41CD-40C9-85FB-B029100F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Project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19061-B785-4960-8D3D-23B63482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What the assignment asks us to demonstrate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3192A-8396-4544-BDB3-CE0BE13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B2B02-F0AC-44B1-B767-767B5090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4580A-A23A-4945-B84F-4960FCA8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383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FD5A6-F19D-477E-9210-D45DC1F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240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Experiment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BC858-2F3E-413F-AFC2-81D76637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16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Log parameters, metrics, artifacts, and outputs with MLflow.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6D71A-2286-4684-916F-A86B22A6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443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A3742-CF2C-4352-9EA0-7605C3AF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B5C8C-1C23-4B83-8562-3BC7DB27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8DEBF-2E67-4FC6-9672-C251DA5E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training and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74E9C-F6A3-440C-84C3-E8A1E465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670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Train baselines and tune hyperparameters with traceable runs.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BB7C2-0946-4EC8-A1AF-2698499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4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8F771-B361-46E6-BE24-2236D1E7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D346C-501B-4542-BAA4-6E4CC1A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290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426BD-EC3B-477E-B59B-6C5B61C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147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B590B-EA2B-4088-BA11-8A7099F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23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Package the model and serve predictions through an endpoint.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BB8EC-1180-4F83-9216-40944B8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4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0B8CE-4B64-4FB6-9F8C-01C709BB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3660A-6F78-4E31-A809-59C9C9B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383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CFABE-73B8-4D57-93B2-8877DB41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240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Performance 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4AFC1-35AF-420D-B9E9-DA681BC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716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 model behavior over time with drifted batches.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D9BDC-FFD3-49E2-89EA-C0CCA10C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4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F5923-38F5-49D3-AC9D-FB812FA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FAFD2-7410-454E-A483-5546F0F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4AC85-9D46-4755-97B9-8194B372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registry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EC9119-232D-4CE5-9EC6-4291069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670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Version the model and manage Staging → Production lifecycle.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4CF24-938F-4FAD-8C84-0CD3AF9F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4330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0CB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83E7F-3A51-464D-BD1F-3EE4161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Project framing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9D800-A94F-45AD-9E17-9C7B713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rest of the deck maps each requirement to a concrete project artifact: code, metrics, MLflow logs, Azure registry, endpoint evidence, and monitoring charts.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E61921-2844-4B20-B527-0DF03CAF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18344-9C4F-49DF-9581-1DECB098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B2678-1177-48C8-A02F-DD01E68E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8F8A9-46F9-4ACC-AA85-B80219A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A8D874-6403-4B5E-AC34-AE3AFEF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F90BAF-7B90-4031-A55F-67A3AF4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846813-B350-453C-B706-D3B68BC2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BE5742-CB8F-4F00-A610-25B19821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C6DD7C-E55A-4ACF-9308-92316ECA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37BB2-C9CC-4ACF-8CEE-C69BD4CF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922876-29D3-45A5-8529-4C50EFB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199475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6689D-9A94-423A-A7C0-0017363B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67ABA-7421-451F-9C3E-FFEB0EA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0BCFA-AFA8-4A24-811A-7426DDCB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F21B-F5D0-47CF-8BDB-779B0FAD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Dataset &amp; Problem Framing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0D9E4-427B-4A82-AC2B-4CCA0B8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AI4I 2020 predictive-maintenance data: imbalanced binary classification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8292b263c4dbd"/>
          <a:stretch xmlns:a="http://schemas.openxmlformats.org/drawingml/2006/main"/>
        </p:blipFill>
        <p:spPr>
          <a:xfrm xmlns:a="http://schemas.openxmlformats.org/drawingml/2006/main">
            <a:off x="6422473" y="1314450"/>
            <a:ext cx="4300054" cy="3333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3f54a8311475a"/>
          <a:stretch xmlns:a="http://schemas.openxmlformats.org/drawingml/2006/main"/>
        </p:blipFill>
        <p:spPr>
          <a:xfrm xmlns:a="http://schemas.openxmlformats.org/drawingml/2006/main">
            <a:off x="8625568" y="4724400"/>
            <a:ext cx="1665514" cy="1314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8E0D0-F456-4E94-AF4D-0AB5A1C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data did we use?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4261E-CF28-4461-99E4-3C7D53F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35A02-C787-4406-9A56-D9EE58F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Source: AI4I 2020 Predictive Maintenance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A517B-A611-43DB-BB13-23085AAD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0EF0A-707C-413A-8A03-1E3F3F7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10,000 machine telemetry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768BF-3443-493D-A691-74ACDBC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32C2D-5075-43C4-B09E-F3E955AA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Target: Machine failure (0/1)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E5DE4-6A5A-4155-81E9-608AD1DD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907CD-87FC-47D6-8758-F660D20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Failure rate is only 3.4%, so accuracy is misleading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D5958-6212-4435-B26C-89E3530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E124E-C24E-475F-97A8-2FD740D2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Leakage columns removed: TWF, HDF, PWF, OSF, RNF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BDC29-EA5F-4C10-9D90-3D22FB1E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C754B-A3B2-4606-8532-D1A9D3C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Evaluation focus: ROC-AUC, PR-AUC, recall, and F1 instead of raw accuracy.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660A5-0591-45F5-B9D5-1C22A48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57A78-BFB5-47CC-8590-DA3E0B4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F20D2-D971-4DBE-A608-86DAD9D0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D2598-0E4C-42AA-80EF-7ABFAABD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D00A2-56CB-43FD-96A3-119A3E6D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76A2A-E2C4-4BDE-8130-0AF7C52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AE8FD-50BC-48C1-BCB8-2A9DD3A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E8794-BF94-4F8D-96DB-5DE5421E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808F9-D6B4-4B98-A33C-C428BB2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E9BBEA-D7B0-4F27-B972-A8B3C353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00DA5-4941-403A-A399-95FB233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151948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D0C56-209A-44B4-BC8E-A1E1E4C5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6F1DD-4ABA-4E35-83D7-978445F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86FC0-F1C4-4F5F-93DD-AF99A46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5F1D1-012F-48F7-B6D3-17A0453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Data Preparation &amp; 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63EEA-49CF-4C67-9357-BDEFC3C4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Preprocessing is part of the model artifact, not a manual side step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527aff2847d7"/>
          <a:stretch xmlns:a="http://schemas.openxmlformats.org/drawingml/2006/main"/>
        </p:blipFill>
        <p:spPr>
          <a:xfrm xmlns:a="http://schemas.openxmlformats.org/drawingml/2006/main">
            <a:off x="1286281" y="1371600"/>
            <a:ext cx="5352237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665ae412042fe"/>
          <a:stretch xmlns:a="http://schemas.openxmlformats.org/drawingml/2006/main"/>
        </p:blipFill>
        <p:spPr>
          <a:xfrm xmlns:a="http://schemas.openxmlformats.org/drawingml/2006/main">
            <a:off x="7772400" y="1406818"/>
            <a:ext cx="3143250" cy="26727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9B363-D7B8-4A14-932C-97655F49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40BC9-EBBB-4604-A143-C1FB4D1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Preprocessing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8693F-8D8A-4B26-AB98-CAFF16B5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0E4E7-F4D7-44EF-8121-757F945F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Numeric features → StandardScaler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26599-2F56-4D67-9B0C-D808BEF6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D8EC1-DBC1-48BF-8B1A-AC6EE1B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Machine Type → OneHotEncoder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09C0E-83D7-4840-B85A-38860DE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The scikit-learn Pipeline serializes preprocessing with the estimator, so training and serving use the same transformations.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D4937-FF97-4A11-A43F-EBEB939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83DC6-949C-4F99-8765-F75B866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FFCDB-AEDA-4E1D-ABFB-2ADA96CD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EA2A4-25E4-4B3A-84E5-E22C385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C4C0C-AEAC-42A2-BB31-367324E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9C9E7-AAA0-44BD-9AD1-61A92F3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EA292-F359-4F9E-B499-662C66FD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B6DB4-BB8D-4E06-8823-4217E924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62880-C906-46D8-A80F-7358845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EF8CD-49D2-48EF-93C2-9D890ED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05FAD-C028-435B-A179-C201AE0A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9709904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7F64B-98CC-4C00-B22B-886CBC2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77D8A-FF1C-4C32-9259-90D405E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E274F-F830-423D-AD62-BB7CC9BE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08104-9EAE-4DFA-8629-78BFC6F1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Architecture: Local Training, Cloud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DBBF5-20E2-498F-8534-D893A4E6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Azure credit is used for shared MLOps infrastructure, not expensive training compute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DD926-7306-4066-BF74-FC030B8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92E5B-6DEE-4C60-89B4-86418C44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 machine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 + tune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AF5B9-5EF6-46BA-B424-E70C3F6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52725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E062D-F83B-4F39-9133-632A4A84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860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B6A8F-ABC5-4EB0-A077-E43468D9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99140-76B3-4C04-99CE-05AFA6B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95550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MLflow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Tracking URI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43728-7AA1-47FF-89D9-D2A1F4E1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527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00A4C-794A-4998-9773-65EE591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A52C7-5C3A-42A6-B82D-9071F27C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11D91-DF7F-47F6-A214-2E4B7CA4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Azure ML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7B661-83E3-4F86-A386-272893B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52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79070-7394-448C-B965-A8881BB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7B499-E5F8-4290-BBFD-3E0B7F6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C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D221B-F6B7-4B2F-9A33-7F5C1334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733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Registry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Staging →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7FC41-CA4C-4CD9-AFE9-AD6249A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2B4CF-9E2B-4E67-8C75-51A664C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481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Managed Online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 /score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EF762-1F20-4850-A437-60E27887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861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6BB29-E300-4718-A559-0995D71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9433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4FBA4-9730-4A44-8DC4-BA05BFD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4FC3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3B9DF-308F-40C7-9123-4797FFD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Monitoring</a:t>
            </a:r>
          </a:p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metrics → MLflow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152C6-8C46-48C8-A72D-84EB4748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E2EBA-82F4-417E-9728-5BA44BFE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100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9545E7-9C17-4715-B03C-F95DBFCC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Stores: experiments, parameters, metrics, artifacts, registered models, and endpoint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B9764-FC71-42D3-9027-147E485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081DDE-B712-4EBF-B97B-0527939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21693-4C9B-4B6D-8EF7-A0C338C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8D5CC-24E1-407D-AA57-2E9BD414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2DD08-8B3B-4068-92AD-AD7B02D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47EC5D-D76B-479C-ADC8-1D1430D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F76EEA-005D-4D66-89BE-F412267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28B35F-8A6F-454A-A894-D71422F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D7D0A-7759-48BC-96E3-9CB0C82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F81B3F-6D5D-4328-8F15-B2C975F3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A1F942-ABC6-4F9F-92BF-F2DA4E9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161256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D7129-BB68-404F-A723-7F3B9DE8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7ABC-CBEA-4493-813D-F5A6BBB3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76AC8-3CEF-4E55-8A93-184941A1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F227E-528A-4430-B9B3-2AEF618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Training, Tracking &amp; 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920F3-9130-425C-915D-AC5746E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Every model run and Optuna trial is traceable in MLflow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ddb05a91e4f07"/>
          <a:stretch xmlns:a="http://schemas.openxmlformats.org/drawingml/2006/main"/>
        </p:blipFill>
        <p:spPr>
          <a:xfrm xmlns:a="http://schemas.openxmlformats.org/drawingml/2006/main">
            <a:off x="677728" y="1371600"/>
            <a:ext cx="4959619" cy="319087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d69139af540c2"/>
          <a:stretch xmlns:a="http://schemas.openxmlformats.org/drawingml/2006/main"/>
        </p:blipFill>
        <p:spPr>
          <a:xfrm xmlns:a="http://schemas.openxmlformats.org/drawingml/2006/main">
            <a:off x="6290723" y="1371600"/>
            <a:ext cx="4373054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F9538-A7E5-4252-8E35-BA5F5884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1381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BE9AF-83C4-42E8-BCD8-0C0111AC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846E6-0BB9-4D0D-B8BA-D5C6506D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076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Optuna trials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F5FB-8582-43AA-B4DE-E4485A2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C8163-C3C0-48F4-AB8B-BEFD4DD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0.974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CE41C-DDC0-4C06-A2EE-8FF4A50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339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Best CV 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92890-A352-4413-AD53-CC3A4315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386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FA062-D666-4042-B155-B64D4787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720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7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74D"/>
                </a:solidFill>
                <a:latin typeface="Aptos"/>
                <a:ea typeface="Aptos"/>
                <a:cs typeface="Aptos"/>
              </a:rPr>
              <a:t>0.44 → 0.77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9E8D5-F192-4479-88B6-2C2BD4C1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339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Recall lift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A7931-005C-480D-A6DA-9B4D93F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86C32-09AA-46F2-BB32-E303D57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MLflow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7E218-8412-4291-8C2A-1F391E9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4FC3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64BCC-FBA0-4CCB-AFD9-C5FCCAA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421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parameters, metrics, classification report, confusion matrix, serialized model artifact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41D88-381E-492E-AD1C-63485BE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025EE-2B54-486B-802E-162DD57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829C3-68A4-4437-B28B-4D331F5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478F6-96A8-4E47-B803-91FD388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57F70-8D57-4D8D-83EC-3F0163DC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83742-D88D-494E-ADB1-D0DB53F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EF597-773B-4C24-99DB-7463D70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194A1-A4C0-4576-B99B-D0D596C6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C7A2E-5BDE-4BEF-A30C-EEC65AC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66B85-A93E-4906-9699-20381DC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5A7610-EBF9-4544-94FF-7ABFA8C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89862553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898718A-621D-4DE9-A178-72A6C4394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5510CAD-87DE-4D29-8911-9A2EFB1520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4FC3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4F73C6A-9FB4-456F-92ED-32216B31335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>
              <a:ext uri="{FF2B5EF4-FFF2-40B4-BE49-F238E27FC236}">
                <ns2:creationId id="{DE395EDA-F7CC-4C90-B21C-CBDF792CAF0A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723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Registry, Deployment &amp; Pipeline Automation</a:t>
            </a:r>
          </a:p>
        </p:txBody>
      </p:sp>
      <p:sp>
        <p:nvSpPr>
          <p:cNvPr id="5" name="">
            <a:extLst>
              <a:ext uri="{FF2B5EF4-FFF2-40B4-BE49-F238E27FC236}">
                <ns2:creationId id="{52495AC9-F118-4E7C-978C-B1E437AF69A0}"/>
              </a:ext>
            </a:extLst>
          </p:cNvPr>
          <p:cNvSpPr>
            <a:spLocks noGrp="1"/>
          </p:cNvSpPr>
          <p:nvPr/>
        </p:nvSpPr>
        <p:spPr>
          <a:xfrm>
            <a:off x="533400" y="1219200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The model becomes a versioned, deployable asset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fbd1272d50284f9e"/>
          <a:stretch/>
        </p:blipFill>
        <p:spPr>
          <a:xfrm>
            <a:off x="666750" y="1504950"/>
            <a:ext cx="3095625" cy="2149740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>
          <a:blip r:embed="R8bc922080e8c483a"/>
          <a:stretch/>
        </p:blipFill>
        <p:spPr>
          <a:xfrm>
            <a:off x="4057650" y="1504950"/>
            <a:ext cx="3095625" cy="2149740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91AB58D0-E61A-4CA9-A6C7-CC700741A377}"/>
              </a:ext>
            </a:extLst>
          </p:cNvPr>
          <p:cNvSpPr>
            <a:spLocks noGrp="1"/>
          </p:cNvSpPr>
          <p:nvPr/>
        </p:nvSpPr>
        <p:spPr>
          <a:xfrm>
            <a:off x="7429500" y="1447800"/>
            <a:ext cx="3429000" cy="742950"/>
          </a:xfrm>
          <a:prstGeom prst="rect">
            <a:avLst/>
          </a:prstGeom>
          <a:solidFill>
            <a:srgbClr val="10243A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BFF95BB3-943E-46AC-9C64-B5181FCC56D8}"/>
              </a:ext>
            </a:extLst>
          </p:cNvPr>
          <p:cNvSpPr>
            <a:spLocks noGrp="1"/>
          </p:cNvSpPr>
          <p:nvPr/>
        </p:nvSpPr>
        <p:spPr>
          <a:xfrm>
            <a:off x="7581900" y="1581150"/>
            <a:ext cx="3124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PredictiveMaintenanceModel</a:t>
            </a:r>
          </a:p>
        </p:txBody>
      </p:sp>
      <p:sp>
        <p:nvSpPr>
          <p:cNvPr id="10" name="">
            <a:extLst>
              <a:ext uri="{FF2B5EF4-FFF2-40B4-BE49-F238E27FC236}">
                <ns2:creationId id="{3C494E06-0B8C-4288-8FBA-2F0235D3EDF2}"/>
              </a:ext>
            </a:extLst>
          </p:cNvPr>
          <p:cNvSpPr>
            <a:spLocks noGrp="1"/>
          </p:cNvSpPr>
          <p:nvPr/>
        </p:nvSpPr>
        <p:spPr>
          <a:xfrm>
            <a:off x="7581900" y="1943100"/>
            <a:ext cx="3124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11" name="">
            <a:extLst>
              <a:ext uri="{FF2B5EF4-FFF2-40B4-BE49-F238E27FC236}">
                <ns2:creationId id="{D67510A6-2986-4ADA-8071-C5CCD1EE44F9}"/>
              </a:ext>
            </a:extLst>
          </p:cNvPr>
          <p:cNvSpPr>
            <a:spLocks noGrp="1"/>
          </p:cNvSpPr>
          <p:nvPr/>
        </p:nvSpPr>
        <p:spPr>
          <a:xfrm>
            <a:off x="7429500" y="2362200"/>
            <a:ext cx="1428750" cy="742950"/>
          </a:xfrm>
          <a:prstGeom prst="rect">
            <a:avLst/>
          </a:prstGeom>
          <a:solidFill>
            <a:srgbClr val="10243A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EAC55252-47CA-4E9C-9E2F-74B64251EE98}"/>
              </a:ext>
            </a:extLst>
          </p:cNvPr>
          <p:cNvSpPr>
            <a:spLocks noGrp="1"/>
          </p:cNvSpPr>
          <p:nvPr/>
        </p:nvSpPr>
        <p:spPr>
          <a:xfrm>
            <a:off x="7581900" y="24955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>
              <a:ext uri="{FF2B5EF4-FFF2-40B4-BE49-F238E27FC236}">
                <ns2:creationId id="{FCCD44C2-4BE1-49F0-92B9-FD7F9471DBAD}"/>
              </a:ext>
            </a:extLst>
          </p:cNvPr>
          <p:cNvSpPr>
            <a:spLocks noGrp="1"/>
          </p:cNvSpPr>
          <p:nvPr/>
        </p:nvSpPr>
        <p:spPr>
          <a:xfrm>
            <a:off x="7581900" y="285750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14" name="">
            <a:extLst>
              <a:ext uri="{FF2B5EF4-FFF2-40B4-BE49-F238E27FC236}">
                <ns2:creationId id="{0E972CD0-8A71-4584-ADE7-79030F63DEB8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2190750" cy="742950"/>
          </a:xfrm>
          <a:prstGeom prst="rect">
            <a:avLst/>
          </a:prstGeom>
          <a:solidFill>
            <a:srgbClr val="10243A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FBB88EF-206F-4D9A-9037-64FE62E37E4F}"/>
              </a:ext>
            </a:extLst>
          </p:cNvPr>
          <p:cNvSpPr>
            <a:spLocks noGrp="1"/>
          </p:cNvSpPr>
          <p:nvPr/>
        </p:nvSpPr>
        <p:spPr>
          <a:xfrm>
            <a:off x="9201150" y="24955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B7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74D"/>
                </a:solidFill>
                <a:latin typeface="Aptos"/>
                <a:ea typeface="Aptos"/>
                <a:cs typeface="Aptos"/>
              </a:rPr>
              <a:t>Staging → Production</a:t>
            </a:r>
          </a:p>
        </p:txBody>
      </p:sp>
      <p:sp>
        <p:nvSpPr>
          <p:cNvPr id="16" name="">
            <a:extLst>
              <a:ext uri="{FF2B5EF4-FFF2-40B4-BE49-F238E27FC236}">
                <ns2:creationId id="{CFC21A68-4907-493B-89E2-B5A00AFFDAFD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885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Lifecycle</a:t>
            </a:r>
          </a:p>
        </p:txBody>
      </p:sp>
      <p:sp>
        <p:nvSpPr>
          <p:cNvPr id="17" name="">
            <a:extLst>
              <a:ext uri="{FF2B5EF4-FFF2-40B4-BE49-F238E27FC236}">
                <ns2:creationId id="{A3D6827C-4C82-4187-A9DE-41E49DD410EE}"/>
              </a:ext>
            </a:extLst>
          </p:cNvPr>
          <p:cNvSpPr>
            <a:spLocks noGrp="1"/>
          </p:cNvSpPr>
          <p:nvPr/>
        </p:nvSpPr>
        <p:spPr>
          <a:xfrm>
            <a:off x="7429500" y="3276600"/>
            <a:ext cx="2190750" cy="742950"/>
          </a:xfrm>
          <a:prstGeom prst="rect">
            <a:avLst/>
          </a:prstGeom>
          <a:solidFill>
            <a:srgbClr val="10243A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604C88D4-56B0-4E83-A8DB-046C63E940DD}"/>
              </a:ext>
            </a:extLst>
          </p:cNvPr>
          <p:cNvSpPr>
            <a:spLocks noGrp="1"/>
          </p:cNvSpPr>
          <p:nvPr/>
        </p:nvSpPr>
        <p:spPr>
          <a:xfrm>
            <a:off x="7581900" y="34099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DDC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DDC8A"/>
                </a:solidFill>
                <a:latin typeface="Aptos"/>
                <a:ea typeface="Aptos"/>
                <a:cs typeface="Aptos"/>
              </a:rPr>
              <a:t>Succeeded</a:t>
            </a:r>
          </a:p>
        </p:txBody>
      </p:sp>
      <p:sp>
        <p:nvSpPr>
          <p:cNvPr id="19" name="">
            <a:extLst>
              <a:ext uri="{FF2B5EF4-FFF2-40B4-BE49-F238E27FC236}">
                <ns2:creationId id="{11CB2E16-C55C-4468-9603-24975533B9C8}"/>
              </a:ext>
            </a:extLst>
          </p:cNvPr>
          <p:cNvSpPr>
            <a:spLocks noGrp="1"/>
          </p:cNvSpPr>
          <p:nvPr/>
        </p:nvSpPr>
        <p:spPr>
          <a:xfrm>
            <a:off x="7581900" y="3771900"/>
            <a:ext cx="1885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Endpoint state</a:t>
            </a:r>
          </a:p>
        </p:txBody>
      </p:sp>
      <p:sp>
        <p:nvSpPr>
          <p:cNvPr id="20" name="">
            <a:extLst>
              <a:ext uri="{FF2B5EF4-FFF2-40B4-BE49-F238E27FC236}">
                <ns2:creationId id="{CFDB130B-9332-4691-A43A-C8D9EB3097DA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10572750" cy="819150"/>
          </a:xfrm>
          <a:prstGeom prst="rect">
            <a:avLst/>
          </a:prstGeom>
          <a:solidFill>
            <a:srgbClr val="10243A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755E5EB6-A451-4CB7-95E0-04F2A7AD866E}"/>
              </a:ext>
            </a:extLst>
          </p:cNvPr>
          <p:cNvSpPr>
            <a:spLocks noGrp="1"/>
          </p:cNvSpPr>
          <p:nvPr/>
        </p:nvSpPr>
        <p:spPr>
          <a:xfrm>
            <a:off x="895350" y="48577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Airflow DAG orchestration</a:t>
            </a:r>
          </a:p>
        </p:txBody>
      </p:sp>
      <p:sp>
        <p:nvSpPr>
          <p:cNvPr id="22" name="">
            <a:extLst>
              <a:ext uri="{FF2B5EF4-FFF2-40B4-BE49-F238E27FC236}">
                <ns2:creationId id="{B9E89E58-3E8C-4E89-8815-9004BD1758C9}"/>
              </a:ext>
            </a:extLst>
          </p:cNvPr>
          <p:cNvSpPr>
            <a:spLocks noGrp="1"/>
          </p:cNvSpPr>
          <p:nvPr/>
        </p:nvSpPr>
        <p:spPr>
          <a:xfrm>
            <a:off x="3314700" y="4876800"/>
            <a:ext cx="1047750" cy="400050"/>
          </a:xfrm>
          <a:prstGeom prst="rect">
            <a:avLst/>
          </a:prstGeom>
          <a:solidFill>
            <a:srgbClr val="10243A"/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A82EDEB8-1369-4D60-B8D8-3BA32523F927}"/>
              </a:ext>
            </a:extLst>
          </p:cNvPr>
          <p:cNvSpPr>
            <a:spLocks noGrp="1"/>
          </p:cNvSpPr>
          <p:nvPr/>
        </p:nvSpPr>
        <p:spPr>
          <a:xfrm>
            <a:off x="3390900" y="49911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4" name="">
            <a:extLst>
              <a:ext uri="{FF2B5EF4-FFF2-40B4-BE49-F238E27FC236}">
                <ns2:creationId id="{3A1DB191-3E97-422B-BAAD-B012CBFB8124}"/>
              </a:ext>
            </a:extLst>
          </p:cNvPr>
          <p:cNvSpPr>
            <a:spLocks noGrp="1"/>
          </p:cNvSpPr>
          <p:nvPr/>
        </p:nvSpPr>
        <p:spPr>
          <a:xfrm>
            <a:off x="4400550" y="5067300"/>
            <a:ext cx="190500" cy="28575"/>
          </a:xfrm>
          <a:prstGeom prst="rect">
            <a:avLst/>
          </a:prstGeom>
          <a:solidFill>
            <a:srgbClr val="80CBC4"/>
          </a:solidFill>
          <a:ln w="0">
            <a:solidFill>
              <a:srgbClr val="80CBC4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63EEC7F0-2D84-4B91-A7A5-C2E0CA41E779}"/>
              </a:ext>
            </a:extLst>
          </p:cNvPr>
          <p:cNvSpPr>
            <a:spLocks noGrp="1"/>
          </p:cNvSpPr>
          <p:nvPr/>
        </p:nvSpPr>
        <p:spPr>
          <a:xfrm>
            <a:off x="4629150" y="4876800"/>
            <a:ext cx="1047750" cy="400050"/>
          </a:xfrm>
          <a:prstGeom prst="rect">
            <a:avLst/>
          </a:prstGeom>
          <a:solidFill>
            <a:srgbClr val="10243A"/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0B0F9F81-5D89-4DD1-B3DF-80641C62512A}"/>
              </a:ext>
            </a:extLst>
          </p:cNvPr>
          <p:cNvSpPr>
            <a:spLocks noGrp="1"/>
          </p:cNvSpPr>
          <p:nvPr/>
        </p:nvSpPr>
        <p:spPr>
          <a:xfrm>
            <a:off x="4705350" y="49911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7" name="">
            <a:extLst>
              <a:ext uri="{FF2B5EF4-FFF2-40B4-BE49-F238E27FC236}">
                <ns2:creationId id="{DBADF894-0E40-4151-B0B3-CB77CA367365}"/>
              </a:ext>
            </a:extLst>
          </p:cNvPr>
          <p:cNvSpPr>
            <a:spLocks noGrp="1"/>
          </p:cNvSpPr>
          <p:nvPr/>
        </p:nvSpPr>
        <p:spPr>
          <a:xfrm>
            <a:off x="5715000" y="5067300"/>
            <a:ext cx="190500" cy="28575"/>
          </a:xfrm>
          <a:prstGeom prst="rect">
            <a:avLst/>
          </a:prstGeom>
          <a:solidFill>
            <a:srgbClr val="80CBC4"/>
          </a:solidFill>
          <a:ln w="0">
            <a:solidFill>
              <a:srgbClr val="80CB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E52C8B7F-6F3D-44AB-BB43-6131047D8678}"/>
              </a:ext>
            </a:extLst>
          </p:cNvPr>
          <p:cNvSpPr>
            <a:spLocks noGrp="1"/>
          </p:cNvSpPr>
          <p:nvPr/>
        </p:nvSpPr>
        <p:spPr>
          <a:xfrm>
            <a:off x="5943600" y="4876800"/>
            <a:ext cx="1047750" cy="400050"/>
          </a:xfrm>
          <a:prstGeom prst="rect">
            <a:avLst/>
          </a:prstGeom>
          <a:solidFill>
            <a:srgbClr val="10243A"/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4E97CDC5-A266-4061-94BD-6458B5FB09A0}"/>
              </a:ext>
            </a:extLst>
          </p:cNvPr>
          <p:cNvSpPr>
            <a:spLocks noGrp="1"/>
          </p:cNvSpPr>
          <p:nvPr/>
        </p:nvSpPr>
        <p:spPr>
          <a:xfrm>
            <a:off x="6019800" y="49911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tune</a:t>
            </a:r>
          </a:p>
        </p:txBody>
      </p:sp>
      <p:sp>
        <p:nvSpPr>
          <p:cNvPr id="30" name="">
            <a:extLst>
              <a:ext uri="{FF2B5EF4-FFF2-40B4-BE49-F238E27FC236}">
                <ns2:creationId id="{4A256028-3F7D-44D4-9777-C1047B79A93E}"/>
              </a:ext>
            </a:extLst>
          </p:cNvPr>
          <p:cNvSpPr>
            <a:spLocks noGrp="1"/>
          </p:cNvSpPr>
          <p:nvPr/>
        </p:nvSpPr>
        <p:spPr>
          <a:xfrm>
            <a:off x="7029450" y="5067300"/>
            <a:ext cx="190500" cy="28575"/>
          </a:xfrm>
          <a:prstGeom prst="rect">
            <a:avLst/>
          </a:prstGeom>
          <a:solidFill>
            <a:srgbClr val="80CBC4"/>
          </a:solidFill>
          <a:ln w="0">
            <a:solidFill>
              <a:srgbClr val="80CBC4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38906E15-3B3A-4C48-94B5-5B6E38B89F8D}"/>
              </a:ext>
            </a:extLst>
          </p:cNvPr>
          <p:cNvSpPr>
            <a:spLocks noGrp="1"/>
          </p:cNvSpPr>
          <p:nvPr/>
        </p:nvSpPr>
        <p:spPr>
          <a:xfrm>
            <a:off x="7258050" y="4876800"/>
            <a:ext cx="1047750" cy="400050"/>
          </a:xfrm>
          <a:prstGeom prst="rect">
            <a:avLst/>
          </a:prstGeom>
          <a:solidFill>
            <a:srgbClr val="10243A"/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DCB98483-F338-497B-AC6A-4F90BF1714E6}"/>
              </a:ext>
            </a:extLst>
          </p:cNvPr>
          <p:cNvSpPr>
            <a:spLocks noGrp="1"/>
          </p:cNvSpPr>
          <p:nvPr/>
        </p:nvSpPr>
        <p:spPr>
          <a:xfrm>
            <a:off x="7334250" y="49911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33" name="">
            <a:extLst>
              <a:ext uri="{FF2B5EF4-FFF2-40B4-BE49-F238E27FC236}">
                <ns2:creationId id="{93C87242-1684-4CD4-82F3-964261477B9D}"/>
              </a:ext>
            </a:extLst>
          </p:cNvPr>
          <p:cNvSpPr>
            <a:spLocks noGrp="1"/>
          </p:cNvSpPr>
          <p:nvPr/>
        </p:nvSpPr>
        <p:spPr>
          <a:xfrm>
            <a:off x="8343900" y="5067300"/>
            <a:ext cx="190500" cy="28575"/>
          </a:xfrm>
          <a:prstGeom prst="rect">
            <a:avLst/>
          </a:prstGeom>
          <a:solidFill>
            <a:srgbClr val="80CBC4"/>
          </a:solidFill>
          <a:ln w="0">
            <a:solidFill>
              <a:srgbClr val="80CBC4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4D3D875D-3845-4488-8C56-FD28FAD50C18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1047750" cy="400050"/>
          </a:xfrm>
          <a:prstGeom prst="rect">
            <a:avLst/>
          </a:prstGeom>
          <a:solidFill>
            <a:srgbClr val="10243A"/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2FA3408C-CEBA-430D-BD2E-29579EFFF8D3}"/>
              </a:ext>
            </a:extLst>
          </p:cNvPr>
          <p:cNvSpPr>
            <a:spLocks noGrp="1"/>
          </p:cNvSpPr>
          <p:nvPr/>
        </p:nvSpPr>
        <p:spPr>
          <a:xfrm>
            <a:off x="8648700" y="49911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36" name="">
            <a:extLst>
              <a:ext uri="{FF2B5EF4-FFF2-40B4-BE49-F238E27FC236}">
                <ns2:creationId id="{5E63E5C9-F773-4208-B40B-8FF32C5B5E9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485900" cy="228600"/>
          </a:xfrm>
          <a:prstGeom prst="rect">
            <a:avLst/>
          </a:prstGeom>
          <a:solidFill>
            <a:srgbClr val="0D1B2E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1AE7A0E8-A977-4605-93DD-F0E8F7EE340D}"/>
              </a:ext>
            </a:extLst>
          </p:cNvPr>
          <p:cNvSpPr>
            <a:spLocks noGrp="1"/>
          </p:cNvSpPr>
          <p:nvPr/>
        </p:nvSpPr>
        <p:spPr>
          <a:xfrm>
            <a:off x="590550" y="62388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38" name="">
            <a:extLst>
              <a:ext uri="{FF2B5EF4-FFF2-40B4-BE49-F238E27FC236}">
                <ns2:creationId id="{AFC1C563-769E-45AA-8EE6-320CD5F9DFBB}"/>
              </a:ext>
            </a:extLst>
          </p:cNvPr>
          <p:cNvSpPr>
            <a:spLocks noGrp="1"/>
          </p:cNvSpPr>
          <p:nvPr/>
        </p:nvSpPr>
        <p:spPr>
          <a:xfrm>
            <a:off x="2133600" y="6191250"/>
            <a:ext cx="1485900" cy="228600"/>
          </a:xfrm>
          <a:prstGeom prst="rect">
            <a:avLst/>
          </a:prstGeom>
          <a:solidFill>
            <a:srgbClr val="0D1B2E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AC707F3D-6FC2-4D0A-9149-C3376493DA3D}"/>
              </a:ext>
            </a:extLst>
          </p:cNvPr>
          <p:cNvSpPr>
            <a:spLocks noGrp="1"/>
          </p:cNvSpPr>
          <p:nvPr/>
        </p:nvSpPr>
        <p:spPr>
          <a:xfrm>
            <a:off x="2209800" y="62388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40" name="">
            <a:extLst>
              <a:ext uri="{FF2B5EF4-FFF2-40B4-BE49-F238E27FC236}">
                <ns2:creationId id="{C8EA6283-D2C4-4E77-98E4-AB66553667C6}"/>
              </a:ext>
            </a:extLst>
          </p:cNvPr>
          <p:cNvSpPr>
            <a:spLocks noGrp="1"/>
          </p:cNvSpPr>
          <p:nvPr/>
        </p:nvSpPr>
        <p:spPr>
          <a:xfrm>
            <a:off x="3752850" y="6191250"/>
            <a:ext cx="1485900" cy="228600"/>
          </a:xfrm>
          <a:prstGeom prst="rect">
            <a:avLst/>
          </a:prstGeom>
          <a:solidFill>
            <a:srgbClr val="4FC3F7"/>
          </a:solidFill>
          <a:ln w="9525">
            <a:solidFill>
              <a:srgbClr val="4FC3F7"/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C38F9D20-5473-4CD8-BF4B-3A018F398A38}"/>
              </a:ext>
            </a:extLst>
          </p:cNvPr>
          <p:cNvSpPr>
            <a:spLocks noGrp="1"/>
          </p:cNvSpPr>
          <p:nvPr/>
        </p:nvSpPr>
        <p:spPr>
          <a:xfrm>
            <a:off x="3829050" y="62388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42" name="">
            <a:extLst>
              <a:ext uri="{FF2B5EF4-FFF2-40B4-BE49-F238E27FC236}">
                <ns2:creationId id="{C770F51A-D1D8-4B51-B604-66D8FA5C75E1}"/>
              </a:ext>
            </a:extLst>
          </p:cNvPr>
          <p:cNvSpPr>
            <a:spLocks noGrp="1"/>
          </p:cNvSpPr>
          <p:nvPr/>
        </p:nvSpPr>
        <p:spPr>
          <a:xfrm>
            <a:off x="5372100" y="6191250"/>
            <a:ext cx="1485900" cy="228600"/>
          </a:xfrm>
          <a:prstGeom prst="rect">
            <a:avLst/>
          </a:prstGeom>
          <a:solidFill>
            <a:srgbClr val="0D1B2E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FBD91072-396D-4AF9-A44A-A0431EB67A0F}"/>
              </a:ext>
            </a:extLst>
          </p:cNvPr>
          <p:cNvSpPr>
            <a:spLocks noGrp="1"/>
          </p:cNvSpPr>
          <p:nvPr/>
        </p:nvSpPr>
        <p:spPr>
          <a:xfrm>
            <a:off x="5448300" y="62388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4" name="">
            <a:extLst>
              <a:ext uri="{FF2B5EF4-FFF2-40B4-BE49-F238E27FC236}">
                <ns2:creationId id="{2CB15D2C-2EC6-4B6E-BBAA-8A7B1C881595}"/>
              </a:ext>
            </a:extLst>
          </p:cNvPr>
          <p:cNvSpPr>
            <a:spLocks noGrp="1"/>
          </p:cNvSpPr>
          <p:nvPr/>
        </p:nvSpPr>
        <p:spPr>
          <a:xfrm>
            <a:off x="6991350" y="6191250"/>
            <a:ext cx="1485900" cy="228600"/>
          </a:xfrm>
          <a:prstGeom prst="rect">
            <a:avLst/>
          </a:prstGeom>
          <a:solidFill>
            <a:srgbClr val="0D1B2E"/>
          </a:solidFill>
          <a:ln w="9525">
            <a:solidFill>
              <a:srgbClr val="24435F"/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C4A3B361-8BF1-477D-BE3F-7FFF3094CAA1}"/>
              </a:ext>
            </a:extLst>
          </p:cNvPr>
          <p:cNvSpPr>
            <a:spLocks noGrp="1"/>
          </p:cNvSpPr>
          <p:nvPr/>
        </p:nvSpPr>
        <p:spPr>
          <a:xfrm>
            <a:off x="7067550" y="62388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46" name="">
            <a:extLst>
              <a:ext uri="{FF2B5EF4-FFF2-40B4-BE49-F238E27FC236}">
                <ns2:creationId id="{6C7CD387-98B3-461A-8E4F-344B9EEA6DA1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</p:spTree>
    <p:extLst>
      <p:ext uri="{BB962C8B-B14F-4D97-AF65-F5344CB8AC3E}">
        <ns4:creationId val="16449514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FB3B0-D25A-4912-920E-900BB62A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EF1E3-7BDA-4739-8592-8558707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689E-DBBD-45C5-A709-6172F00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AIN-3009 MLOps 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B25E5-500E-4A7F-9AAA-412ECE1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Monitoring Closes the MLOps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4EC08-C0A8-44F4-B830-EF3A1A2B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Metric drift shows when retraining should be considered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cf32a0ed434d"/>
          <a:stretch xmlns:a="http://schemas.openxmlformats.org/drawingml/2006/main"/>
        </p:blipFill>
        <p:spPr>
          <a:xfrm xmlns:a="http://schemas.openxmlformats.org/drawingml/2006/main">
            <a:off x="719083" y="1352550"/>
            <a:ext cx="58770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EAD0-A503-4DBC-B6E5-8B8688E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2653F-FFAF-4EEF-B609-2DDB37D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002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0.914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DFB56-0D15-43AE-AE81-05F2EA28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Batch 0 ROC-AUC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19635-B993-4C7C-9EE0-F243DCA0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F6243-BE51-4B31-B828-DE4F9CB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002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7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74D"/>
                </a:solidFill>
                <a:latin typeface="Aptos"/>
                <a:ea typeface="Aptos"/>
                <a:cs typeface="Aptos"/>
              </a:rPr>
              <a:t>0.766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56507-239D-437F-9831-645B061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621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Batch 5 ROC-AUC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34A7A-8F3F-4538-835C-D3FF06D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8548-8B43-4F37-8596-5C8FF64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4% → 37%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3D0B6-4F29-4175-947A-FF629AD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Predicted failure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308E-CDF6-4BC2-8913-7B437CB2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0CB57-C39D-4F31-976F-7D4F506E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C3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C3F7"/>
                </a:solidFill>
                <a:latin typeface="Aptos"/>
                <a:ea typeface="Aptos"/>
                <a:cs typeface="Aptos"/>
              </a:rPr>
              <a:t>Course objectives 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96AB3-8A9B-47E9-8E3D-378EA167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29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C8A"/>
          </a:solidFill>
          <a:ln xmlns:a="http://schemas.openxmlformats.org/drawingml/2006/main" w="0">
            <a:solidFill>
              <a:srgbClr val="7DDC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71190-3236-42BF-8D9D-988B7646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00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06B5F-1017-4494-8FD0-73AC42C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Experiment tracking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2E364-BAB6-407C-A5AD-CF674549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33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C8A"/>
          </a:solidFill>
          <a:ln xmlns:a="http://schemas.openxmlformats.org/drawingml/2006/main" w="0">
            <a:solidFill>
              <a:srgbClr val="7DDC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C2D37-D5A9-4078-BE73-96BEC4D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053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4B798-0E1D-43AE-974C-DEE76AB8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Training and tuning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2D025-81AD-412C-B502-3D2E0525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386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C8A"/>
          </a:solidFill>
          <a:ln xmlns:a="http://schemas.openxmlformats.org/drawingml/2006/main" w="0">
            <a:solidFill>
              <a:srgbClr val="7DDC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DB4C4-8E77-4C88-B801-831B851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101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59955-7B55-4F29-8A70-6BA35AE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0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Registry and deployment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3FDAD-BCD1-4829-99DE-E50C764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434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C8A"/>
          </a:solidFill>
          <a:ln xmlns:a="http://schemas.openxmlformats.org/drawingml/2006/main" w="0">
            <a:solidFill>
              <a:srgbClr val="7DDC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B83CF-CAB6-434A-A54B-41A828AC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149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0D02F-10D6-44BA-82B2-D2DB4974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Monitoring and drift tracking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BEF1-8583-470B-8369-07D79E9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0CB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0CBC4"/>
                </a:solidFill>
                <a:latin typeface="Aptos"/>
                <a:ea typeface="Aptos"/>
                <a:cs typeface="Aptos"/>
              </a:rPr>
              <a:t>Final takeaway: this is not a notebook-only model; it is an end-to-end MLflow + Azure ML lifecycle demonstration.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0D6739-703A-424A-89DE-A88BD2D5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88879D-EB47-4162-9CAF-C1B4A523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66E14-8FB4-4CBE-8760-B4D9B9D6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58E74-2A94-4441-A0FD-0CD98400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Training/Tuning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CC486D-E34C-478C-865B-D53F27E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E3BA65-E335-4348-A3F6-DB32A54E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82595-278C-472A-9403-FB0B8F5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443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F15FC-7A70-44E2-ACE6-B801970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2274F-6CBD-4857-A780-E96C82F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191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 w="9525">
            <a:solidFill>
              <a:srgbClr val="4FC3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C860CA-F188-4FEC-9F4C-D5D4B9A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388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9248E-2F75-4858-9932-1A3FCC45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579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3C7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336826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2026-05-31T11:27:17.2740000Z</dcterms:created>
  <dcterms:modified xsi:type="dcterms:W3CDTF">2026-05-31T11:27:17.2740000Z</dcterms:modified>
</coreProperties>
</file>